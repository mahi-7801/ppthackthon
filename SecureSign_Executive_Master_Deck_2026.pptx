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6949440" cy="5394960"/>
          </a:xfrm>
          <a:prstGeom prst="roundRect">
            <a:avLst/>
          </a:prstGeom>
          <a:solidFill>
            <a:srgbClr val="17254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731520"/>
            <a:ext cx="68580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005840"/>
            <a:ext cx="6400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✦  GOVERNMENT OF ANDHRA PRADESH | APIS &amp; RTIH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SecureSign</a:t>
            </a:r>
          </a:p>
          <a:p>
            <a:pPr>
              <a:defRPr sz="1800" b="1">
                <a:solidFill>
                  <a:srgbClr val="38BDF8"/>
                </a:solidFill>
              </a:defRPr>
            </a:pPr>
            <a:r>
              <a:t>Universal Type-C DSC Mobile Signing Platform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Enterprise-grade hardware digital signatures directly on Android &amp; iOS mobile devices using USB Type-C CCID dongles — eliminating all desktop middleware dependencies.</a:t>
            </a:r>
          </a:p>
          <a:p>
            <a:br/>
            <a:pPr>
              <a:defRPr sz="1100" b="1">
                <a:solidFill>
                  <a:srgbClr val="10B981"/>
                </a:solidFill>
              </a:defRPr>
            </a:pPr>
            <a:r>
              <a:t>✔ 100% CCA India Compliant    ✔ ISO 7816-4 Native CCID    ✔ PAdES-LTV + RFC 3161 TSA</a:t>
            </a:r>
          </a:p>
          <a:p>
            <a:br/>
            <a:pPr>
              <a:defRPr sz="1000">
                <a:solidFill>
                  <a:srgbClr val="94A3B8"/>
                </a:solidFill>
              </a:defRPr>
            </a:pPr>
            <a:r>
              <a:t>Applicant: Mahi Bujji Papa (Vone Digital)  |  Official Contact: pmahi7801@gmail.com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731520"/>
            <a:ext cx="3474720" cy="5394960"/>
          </a:xfrm>
          <a:prstGeom prst="roundRect">
            <a:avLst/>
          </a:prstGeom>
          <a:solidFill>
            <a:srgbClr val="17254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00999" y="731520"/>
            <a:ext cx="33832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ive_splash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6896" y="868680"/>
            <a:ext cx="2291486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840480" cy="292608"/>
          </a:xfrm>
          <a:prstGeom prst="roundRect">
            <a:avLst/>
          </a:prstGeom>
          <a:solidFill>
            <a:srgbClr val="0F172A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✦  THE CHALLENGE &amp; VISION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24160" y="320040"/>
            <a:ext cx="1005840" cy="292608"/>
          </a:xfrm>
          <a:prstGeom prst="round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02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The Desktop Bottleneck in Digital Governance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328416" cy="4754880"/>
          </a:xfrm>
          <a:prstGeom prst="roundRect">
            <a:avLst/>
          </a:prstGeom>
          <a:solidFill>
            <a:srgbClr val="17254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417320"/>
            <a:ext cx="3236976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54480"/>
            <a:ext cx="305409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7171"/>
                </a:solidFill>
              </a:defRPr>
            </a:pPr>
            <a:r>
              <a:t>❌ Current Desktop Bottleneck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Officers tied to physical desktop/laptop computers to execute legally binding DSC signatures.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Requires vendor-specific Windows drivers (ePass, ProxKey, Watchdata utilities).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Frequent driver conflicts, browser plugin crashes, and Java middleware failures.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Cripples field operations for revenue inspectors, panchayat secretaries, and mobile executives.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6552" y="1417320"/>
            <a:ext cx="3328416" cy="4754880"/>
          </a:xfrm>
          <a:prstGeom prst="roundRect">
            <a:avLst/>
          </a:prstGeom>
          <a:solidFill>
            <a:srgbClr val="17254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62272" y="1417320"/>
            <a:ext cx="3236976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554480"/>
            <a:ext cx="305409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⚡ The SecureSign Solution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Direct Type-C Hardware Plug: Connect DSC token directly to any modern smartphone via Type-C.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Native Driver Engine: In-app Kotlin CCID stack handles ISO 7816-4 APDU commands directly.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Zero Middleware: No PC, no proprietary software, no Java runtimes required.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Under 30-Second Signing: End-to-end document signing in the field with instant PDF dispatch.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1584" y="1417320"/>
            <a:ext cx="3328416" cy="4754880"/>
          </a:xfrm>
          <a:prstGeom prst="roundRect">
            <a:avLst/>
          </a:prstGeom>
          <a:solidFill>
            <a:srgbClr val="17254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47304" y="1417320"/>
            <a:ext cx="3236976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38744" y="1554480"/>
            <a:ext cx="305409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🎯 State-Wide Impact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Instant Approval Cycles: G.O.s, citizen certificates, and procurement orders approved on-site.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100% Legal Admissibility: Complies with Sections 3 &amp; 3A of the Indian IT Act 2000.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Universal Adoption: Works across all AP Govt departments (Revenue, Panchayat, Health, Police).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Tamper-Proof Audit: Every signing session logged with SHA-256 digest &amp; RFC 3161 timestamps.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840480" cy="292608"/>
          </a:xfrm>
          <a:prstGeom prst="roundRect">
            <a:avLst/>
          </a:prstGeom>
          <a:solidFill>
            <a:srgbClr val="0F172A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✦  ENGINEERING &amp;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24160" y="320040"/>
            <a:ext cx="1005840" cy="292608"/>
          </a:xfrm>
          <a:prstGeom prst="round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03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4-Tier Hardware-to-Cloud System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120640" cy="2240280"/>
          </a:xfrm>
          <a:prstGeom prst="roundRect">
            <a:avLst/>
          </a:prstGeom>
          <a:solidFill>
            <a:srgbClr val="17254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417320"/>
            <a:ext cx="50292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08760"/>
            <a:ext cx="48463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Layer 1: Hardware &amp; Native CCID Driver (Kotlin)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Directly communicates with Android USB Host API (android.hardware.usb)</a:t>
            </a:r>
            <a:br/>
            <a:r>
              <a:t>• Implements ISO/IEC 7816-4 APDU transport over USB Bulk IN/OUT (Class 0x0B)</a:t>
            </a:r>
            <a:br/>
            <a:r>
              <a:t>• Auto-discovers CCID endpoints &amp; claims interfaces with 5000ms watchdog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120640" cy="2240280"/>
          </a:xfrm>
          <a:prstGeom prst="roundRect">
            <a:avLst/>
          </a:prstGeom>
          <a:solidFill>
            <a:srgbClr val="17254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50292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508760"/>
            <a:ext cx="48463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Layer 2: PKCS#11 Cryptographic Engine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On-chip RSA 2048/4096 &amp; ECDSA signing inside FIPS 140-2 Level 3 Secure Element</a:t>
            </a:r>
            <a:br/>
            <a:r>
              <a:t>• Private keys NEVER leave hardware token (Only SHA-256 hash sent, signature returned)</a:t>
            </a:r>
            <a:br/>
            <a:r>
              <a:t>• Direct hardware PIN verification with instant memory wipe (pinBytes.fill(0))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86200"/>
            <a:ext cx="5120640" cy="2240280"/>
          </a:xfrm>
          <a:prstGeom prst="roundRect">
            <a:avLst/>
          </a:prstGeom>
          <a:solidFill>
            <a:srgbClr val="17254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886200"/>
            <a:ext cx="50292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977639"/>
            <a:ext cx="48463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Layer 3: Cross-Platform Mobile Client (React Native)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Custom Native Turbo Bridge (DSCSigningModule) with event listeners</a:t>
            </a:r>
            <a:br/>
            <a:r>
              <a:t>• On-device PDF picking, SHA-256 calculation, and visual signature positioning</a:t>
            </a:r>
            <a:br/>
            <a:r>
              <a:t>• Offline-capable architecture with built-in CCA Sandbox Simulation Mode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886200"/>
            <a:ext cx="5120640" cy="2240280"/>
          </a:xfrm>
          <a:prstGeom prst="roundRect">
            <a:avLst/>
          </a:prstGeom>
          <a:solidFill>
            <a:srgbClr val="17254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3886200"/>
            <a:ext cx="5029200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3977639"/>
            <a:ext cx="48463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084FC"/>
                </a:solidFill>
              </a:defRPr>
            </a:pPr>
            <a:r>
              <a:t>Layer 4: Cloud PAdES Assembly &amp; Audit (Node.js/Supabase)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RFC 3161 Time Stamping Authority (TSA) injection for Long-Term Validation (LTV)</a:t>
            </a:r>
            <a:br/>
            <a:r>
              <a:t>• Packaging of PAdES (ETSI EN 319 142) and CAdES compliant digital containers</a:t>
            </a:r>
            <a:br/>
            <a:r>
              <a:t>• Immutable PostgreSQL audit log recording signer, certificate serial, and IP address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840480" cy="292608"/>
          </a:xfrm>
          <a:prstGeom prst="roundRect">
            <a:avLst/>
          </a:prstGeom>
          <a:solidFill>
            <a:srgbClr val="0F172A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✦  OPERATIONAL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24160" y="320040"/>
            <a:ext cx="1005840" cy="292608"/>
          </a:xfrm>
          <a:prstGeom prst="round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04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Seamless 8-Step Mobile Signing Workflow (&lt; 30s)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2468880" cy="2240280"/>
          </a:xfrm>
          <a:prstGeom prst="roundRect">
            <a:avLst/>
          </a:prstGeom>
          <a:solidFill>
            <a:srgbClr val="17254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417320"/>
            <a:ext cx="237744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554480"/>
            <a:ext cx="224942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Step 1: Auth &amp; Login</a:t>
            </a:r>
          </a:p>
          <a:p>
            <a:br/>
            <a:pPr>
              <a:defRPr sz="1000">
                <a:solidFill>
                  <a:srgbClr val="94A3B8"/>
                </a:solidFill>
              </a:defRPr>
            </a:pPr>
            <a:r>
              <a:t>Officer logs into SecureSign via Supabase JWT Bearer authentication.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417320"/>
            <a:ext cx="2468880" cy="2240280"/>
          </a:xfrm>
          <a:prstGeom prst="roundRect">
            <a:avLst/>
          </a:prstGeom>
          <a:solidFill>
            <a:srgbClr val="17254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1417320"/>
            <a:ext cx="237744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38728" y="1554480"/>
            <a:ext cx="224942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Step 2: Plug &amp; Detect</a:t>
            </a:r>
          </a:p>
          <a:p>
            <a:br/>
            <a:pPr>
              <a:defRPr sz="1000">
                <a:solidFill>
                  <a:srgbClr val="94A3B8"/>
                </a:solidFill>
              </a:defRPr>
            </a:pPr>
            <a:r>
              <a:t>Type-C DSC dongle plugged in; instant automatic USB enumeration.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417320"/>
            <a:ext cx="2468880" cy="2240280"/>
          </a:xfrm>
          <a:prstGeom prst="roundRect">
            <a:avLst/>
          </a:prstGeom>
          <a:solidFill>
            <a:srgbClr val="17254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417320"/>
            <a:ext cx="237744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6208" y="1554480"/>
            <a:ext cx="224942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Step 3: Hardware PIN</a:t>
            </a:r>
          </a:p>
          <a:p>
            <a:br/>
            <a:pPr>
              <a:defRPr sz="1000">
                <a:solidFill>
                  <a:srgbClr val="94A3B8"/>
                </a:solidFill>
              </a:defRPr>
            </a:pPr>
            <a:r>
              <a:t>PIN verified directly on-chip via APDU; memory cleared immediately.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1417320"/>
            <a:ext cx="2468880" cy="2240280"/>
          </a:xfrm>
          <a:prstGeom prst="roundRect">
            <a:avLst/>
          </a:prstGeom>
          <a:solidFill>
            <a:srgbClr val="17254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69680" y="1417320"/>
            <a:ext cx="237744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33688" y="1554480"/>
            <a:ext cx="224942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Step 4: Pick Document</a:t>
            </a:r>
          </a:p>
          <a:p>
            <a:br/>
            <a:pPr>
              <a:defRPr sz="1000">
                <a:solidFill>
                  <a:srgbClr val="94A3B8"/>
                </a:solidFill>
              </a:defRPr>
            </a:pPr>
            <a:r>
              <a:t>Approval PDF selected; local SHA-256 hash computed on-device.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886200"/>
            <a:ext cx="2468880" cy="2240280"/>
          </a:xfrm>
          <a:prstGeom prst="roundRect">
            <a:avLst/>
          </a:prstGeom>
          <a:solidFill>
            <a:srgbClr val="17254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886200"/>
            <a:ext cx="237744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4023360"/>
            <a:ext cx="224942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Step 5: Hardware Sign</a:t>
            </a:r>
          </a:p>
          <a:p>
            <a:br/>
            <a:pPr>
              <a:defRPr sz="1000">
                <a:solidFill>
                  <a:srgbClr val="94A3B8"/>
                </a:solidFill>
              </a:defRPr>
            </a:pPr>
            <a:r>
              <a:t>Hash sent over CCID bulk endpoint; token signs with isolated private key.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29000" y="3886200"/>
            <a:ext cx="2468880" cy="2240280"/>
          </a:xfrm>
          <a:prstGeom prst="roundRect">
            <a:avLst/>
          </a:prstGeom>
          <a:solidFill>
            <a:srgbClr val="17254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74720" y="3886200"/>
            <a:ext cx="237744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38728" y="4023360"/>
            <a:ext cx="224942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Step 6: RFC 3161 TSA</a:t>
            </a:r>
          </a:p>
          <a:p>
            <a:br/>
            <a:pPr>
              <a:defRPr sz="1000">
                <a:solidFill>
                  <a:srgbClr val="94A3B8"/>
                </a:solidFill>
              </a:defRPr>
            </a:pPr>
            <a:r>
              <a:t>Backend submits signature to Time Stamping Authority for official time token.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3886200"/>
            <a:ext cx="2468880" cy="2240280"/>
          </a:xfrm>
          <a:prstGeom prst="roundRect">
            <a:avLst/>
          </a:prstGeom>
          <a:solidFill>
            <a:srgbClr val="17254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72200" y="3886200"/>
            <a:ext cx="2377440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36208" y="4023360"/>
            <a:ext cx="224942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855F7"/>
                </a:solidFill>
              </a:defRPr>
            </a:pPr>
            <a:r>
              <a:t>Step 7: PAdES Assembly</a:t>
            </a:r>
          </a:p>
          <a:p>
            <a:br/>
            <a:pPr>
              <a:defRPr sz="1000">
                <a:solidFill>
                  <a:srgbClr val="94A3B8"/>
                </a:solidFill>
              </a:defRPr>
            </a:pPr>
            <a:r>
              <a:t>Signature + TSA timestamp sealed into PDF forming legally valid PAdES-LTV.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23960" y="3886200"/>
            <a:ext cx="2468880" cy="2240280"/>
          </a:xfrm>
          <a:prstGeom prst="roundRect">
            <a:avLst/>
          </a:prstGeom>
          <a:solidFill>
            <a:srgbClr val="17254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69680" y="3886200"/>
            <a:ext cx="2377440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33688" y="4023360"/>
            <a:ext cx="224942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855F7"/>
                </a:solidFill>
              </a:defRPr>
            </a:pPr>
            <a:r>
              <a:t>Step 8: Verify &amp; Share</a:t>
            </a:r>
          </a:p>
          <a:p>
            <a:br/>
            <a:pPr>
              <a:defRPr sz="1000">
                <a:solidFill>
                  <a:srgbClr val="94A3B8"/>
                </a:solidFill>
              </a:defRPr>
            </a:pPr>
            <a:r>
              <a:t>Signed PDF downloaded; shared via WhatsApp, Email, or e-Office portal.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840480" cy="292608"/>
          </a:xfrm>
          <a:prstGeom prst="roundRect">
            <a:avLst/>
          </a:prstGeom>
          <a:solidFill>
            <a:srgbClr val="0F172A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✦  CRYPTOGRAPHIC ASSERTION &amp; TRUST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24160" y="320040"/>
            <a:ext cx="1005840" cy="292608"/>
          </a:xfrm>
          <a:prstGeom prst="round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05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End-to-End Affirmation &amp; Verification Flowchart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2029968" cy="3977639"/>
          </a:xfrm>
          <a:prstGeom prst="roundRect">
            <a:avLst/>
          </a:prstGeom>
          <a:solidFill>
            <a:srgbClr val="17254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417320"/>
            <a:ext cx="1938528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536192"/>
            <a:ext cx="1883664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STAGE 1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Intent Affirmation</a:t>
            </a:r>
          </a:p>
          <a:p>
            <a:br/>
            <a:pPr>
              <a:defRPr sz="950">
                <a:solidFill>
                  <a:srgbClr val="94A3B8"/>
                </a:solidFill>
              </a:defRPr>
            </a:pPr>
            <a:r>
              <a:t>• Select PDF File</a:t>
            </a:r>
            <a:br/>
            <a:r>
              <a:t>• Local SHA-256 Engine</a:t>
            </a:r>
            <a:br/>
            <a:r>
              <a:t>• H = SHA256(Doc)</a:t>
            </a:r>
            <a:br/>
            <a:r>
              <a:t>• Document Hash Bound</a:t>
            </a:r>
            <a:br/>
            <a:r>
              <a:t>• Zero Document Upload</a:t>
            </a:r>
            <a:br/>
          </a:p>
          <a:p>
            <a:pPr algn="ctr">
              <a:defRPr sz="900" b="1">
                <a:solidFill>
                  <a:srgbClr val="38BDF8"/>
                </a:solidFill>
              </a:defRPr>
            </a:pPr>
            <a:r>
              <a:t>[✔ INTENT LOCKED]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98648" y="1417320"/>
            <a:ext cx="2029968" cy="3977639"/>
          </a:xfrm>
          <a:prstGeom prst="roundRect">
            <a:avLst/>
          </a:prstGeom>
          <a:solidFill>
            <a:srgbClr val="17254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44368" y="1417320"/>
            <a:ext cx="1938528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71800" y="1536192"/>
            <a:ext cx="1883664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59E0B"/>
                </a:solidFill>
              </a:defRPr>
            </a:pPr>
            <a:r>
              <a:t>STAGE 2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Hardware Handshake</a:t>
            </a:r>
          </a:p>
          <a:p>
            <a:br/>
            <a:pPr>
              <a:defRPr sz="950">
                <a:solidFill>
                  <a:srgbClr val="94A3B8"/>
                </a:solidFill>
              </a:defRPr>
            </a:pPr>
            <a:r>
              <a:t>• USB Type-C Plugged</a:t>
            </a:r>
            <a:br/>
            <a:r>
              <a:t>• CCID Endpoint Claimed</a:t>
            </a:r>
            <a:br/>
            <a:r>
              <a:t>• Native PIN Keypad</a:t>
            </a:r>
            <a:br/>
            <a:r>
              <a:t>• APDU VERIFY PIN (0x20)</a:t>
            </a:r>
            <a:br/>
            <a:r>
              <a:t>• Token Unlocks On-Chip</a:t>
            </a:r>
            <a:br/>
          </a:p>
          <a:p>
            <a:pPr algn="ctr">
              <a:defRPr sz="900" b="1">
                <a:solidFill>
                  <a:srgbClr val="F59E0B"/>
                </a:solidFill>
              </a:defRPr>
            </a:pPr>
            <a:r>
              <a:t>[✔ PIN AUTHENTICATED]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65776" y="1417320"/>
            <a:ext cx="2029968" cy="3977639"/>
          </a:xfrm>
          <a:prstGeom prst="roundRect">
            <a:avLst/>
          </a:prstGeom>
          <a:solidFill>
            <a:srgbClr val="17254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11496" y="1417320"/>
            <a:ext cx="1938528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38928" y="1536192"/>
            <a:ext cx="1883664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STAGE 3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Cryptographic Assertion</a:t>
            </a:r>
          </a:p>
          <a:p>
            <a:br/>
            <a:pPr>
              <a:defRPr sz="950">
                <a:solidFill>
                  <a:srgbClr val="94A3B8"/>
                </a:solidFill>
              </a:defRPr>
            </a:pPr>
            <a:r>
              <a:t>• Hash passed over CCID</a:t>
            </a:r>
            <a:br/>
            <a:r>
              <a:t>• APDU PSO: SIGN (0x2A)</a:t>
            </a:r>
            <a:br/>
            <a:r>
              <a:t>• RSA/ECDSA Private Key</a:t>
            </a:r>
            <a:br/>
            <a:r>
              <a:t>• On-Chip Hardware Sign</a:t>
            </a:r>
            <a:br/>
            <a:r>
              <a:t>• ZERO Key Extraction</a:t>
            </a:r>
            <a:br/>
          </a:p>
          <a:p>
            <a:pPr algn="ctr">
              <a:defRPr sz="900" b="1">
                <a:solidFill>
                  <a:srgbClr val="10B981"/>
                </a:solidFill>
              </a:defRPr>
            </a:pPr>
            <a:r>
              <a:t>[✔ SIGNATURE ASSERTED]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32904" y="1417320"/>
            <a:ext cx="2029968" cy="3977639"/>
          </a:xfrm>
          <a:prstGeom prst="roundRect">
            <a:avLst/>
          </a:prstGeom>
          <a:solidFill>
            <a:srgbClr val="17254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278624" y="1417320"/>
            <a:ext cx="1938528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06056" y="1536192"/>
            <a:ext cx="1883664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A855F7"/>
                </a:solidFill>
              </a:defRPr>
            </a:pPr>
            <a:r>
              <a:t>STAGE 4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Trust &amp; TSA Affirmation</a:t>
            </a:r>
          </a:p>
          <a:p>
            <a:br/>
            <a:pPr>
              <a:defRPr sz="950">
                <a:solidFill>
                  <a:srgbClr val="94A3B8"/>
                </a:solidFill>
              </a:defRPr>
            </a:pPr>
            <a:r>
              <a:t>• RFC 3161 TSA Request</a:t>
            </a:r>
            <a:br/>
            <a:r>
              <a:t>• Cryptographic Timestamp</a:t>
            </a:r>
            <a:br/>
            <a:r>
              <a:t>• CCA Sub-CA Certificate</a:t>
            </a:r>
            <a:br/>
            <a:r>
              <a:t>• CRL/OCSP Status Check</a:t>
            </a:r>
            <a:br/>
            <a:r>
              <a:t>• Non-Repudiation Seal</a:t>
            </a:r>
            <a:br/>
          </a:p>
          <a:p>
            <a:pPr algn="ctr">
              <a:defRPr sz="900" b="1">
                <a:solidFill>
                  <a:srgbClr val="A855F7"/>
                </a:solidFill>
              </a:defRPr>
            </a:pPr>
            <a:r>
              <a:t>[✔ TIME &amp; CRL AFFIRMED]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00032" y="1417320"/>
            <a:ext cx="2029968" cy="3977639"/>
          </a:xfrm>
          <a:prstGeom prst="roundRect">
            <a:avLst/>
          </a:prstGeom>
          <a:solidFill>
            <a:srgbClr val="17254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445752" y="1417320"/>
            <a:ext cx="1938528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73184" y="1536192"/>
            <a:ext cx="1883664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STAGE 5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PAdES Legal Affirmation</a:t>
            </a:r>
          </a:p>
          <a:p>
            <a:br/>
            <a:pPr>
              <a:defRPr sz="950">
                <a:solidFill>
                  <a:srgbClr val="94A3B8"/>
                </a:solidFill>
              </a:defRPr>
            </a:pPr>
            <a:r>
              <a:t>• PDF ByteRange Sealed</a:t>
            </a:r>
            <a:br/>
            <a:r>
              <a:t>• PAdES-LTV Container</a:t>
            </a:r>
            <a:br/>
            <a:r>
              <a:t>• Visual Green Seal</a:t>
            </a:r>
            <a:br/>
            <a:r>
              <a:t>• Supabase Audit Logged</a:t>
            </a:r>
            <a:br/>
            <a:r>
              <a:t>• Instant Citizen Dispatch</a:t>
            </a:r>
            <a:br/>
          </a:p>
          <a:p>
            <a:pPr algn="ctr">
              <a:defRPr sz="900" b="1">
                <a:solidFill>
                  <a:srgbClr val="10B981"/>
                </a:solidFill>
              </a:defRPr>
            </a:pPr>
            <a:r>
              <a:t>[✔ 100% LEGALLY VALID]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532120"/>
            <a:ext cx="10698480" cy="685800"/>
          </a:xfrm>
          <a:prstGeom prst="roundRect">
            <a:avLst/>
          </a:prstGeom>
          <a:solidFill>
            <a:srgbClr val="17254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5532120"/>
            <a:ext cx="1060704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96128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🏛️  LEGAL AFFIRMATION GUARANTEE (INDIAN INFORMATION TECHNOLOGY ACT 2000):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Private cryptographic keys remain permanently isolated inside the hardware secure element. The generated digital signature cannot be forged, altered, or repudiated under Sections 3 &amp; 3A of the IT Act 2000.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840480" cy="292608"/>
          </a:xfrm>
          <a:prstGeom prst="roundRect">
            <a:avLst/>
          </a:prstGeom>
          <a:solidFill>
            <a:srgbClr val="0F172A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✦  PRODUCTION DEMONSTRATION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24160" y="320040"/>
            <a:ext cx="1005840" cy="292608"/>
          </a:xfrm>
          <a:prstGeom prst="round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06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Live Mobile Application Interface &amp; Screenshots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2496312" cy="4663440"/>
          </a:xfrm>
          <a:prstGeom prst="roundRect">
            <a:avLst/>
          </a:prstGeom>
          <a:solidFill>
            <a:srgbClr val="17254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417320"/>
            <a:ext cx="2404872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ive_login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610" y="1554480"/>
            <a:ext cx="1964131" cy="4389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6172200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1. Secure Auth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417320"/>
            <a:ext cx="2496312" cy="4663440"/>
          </a:xfrm>
          <a:prstGeom prst="roundRect">
            <a:avLst/>
          </a:prstGeom>
          <a:solidFill>
            <a:srgbClr val="17254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20440" y="1417320"/>
            <a:ext cx="2404872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live_pin_entry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0810" y="1554480"/>
            <a:ext cx="1964131" cy="43891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474720" y="6172200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2. PIN Verification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2496312" cy="4663440"/>
          </a:xfrm>
          <a:prstGeom prst="roundRect">
            <a:avLst/>
          </a:prstGeom>
          <a:solidFill>
            <a:srgbClr val="17254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417320"/>
            <a:ext cx="2404872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live_signature_complete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4010" y="1554480"/>
            <a:ext cx="1964131" cy="43891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217920" y="6172200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3. Signed Document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1417320"/>
            <a:ext cx="2496312" cy="4663440"/>
          </a:xfrm>
          <a:prstGeom prst="roundRect">
            <a:avLst/>
          </a:prstGeom>
          <a:solidFill>
            <a:srgbClr val="17254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06840" y="1417320"/>
            <a:ext cx="2404872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live_settings_cca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7210" y="1554480"/>
            <a:ext cx="1964131" cy="43891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961120" y="6172200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4. CCA Audit Trail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840480" cy="292608"/>
          </a:xfrm>
          <a:prstGeom prst="roundRect">
            <a:avLst/>
          </a:prstGeom>
          <a:solidFill>
            <a:srgbClr val="0F172A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✦  REGULATORY &amp; LEGAL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24160" y="320040"/>
            <a:ext cx="1005840" cy="292608"/>
          </a:xfrm>
          <a:prstGeom prst="round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07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100% CCA India Guideline Compliance Matrix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10698480" cy="777240"/>
          </a:xfrm>
          <a:prstGeom prst="roundRect">
            <a:avLst/>
          </a:prstGeom>
          <a:solidFill>
            <a:srgbClr val="17254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417320"/>
            <a:ext cx="1060704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/>
            </a:pPr>
            <a:r>
              <a:t>✔  Rule 1: Private Key Security: Signing operation occurs strictly inside hardware secure element. Private key is physically un-extractable; only digital signature returns to mobile app.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59152"/>
            <a:ext cx="10698480" cy="777240"/>
          </a:xfrm>
          <a:prstGeom prst="roundRect">
            <a:avLst/>
          </a:prstGeom>
          <a:solidFill>
            <a:srgbClr val="17254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2359152"/>
            <a:ext cx="1060704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450592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/>
            </a:pPr>
            <a:r>
              <a:t>✔  Rule 2: PIN Isolation &amp; Zero Memory: PIN is transmitted directly via APDU commands to token hardware. Zero plaintext storage; memory buffer is instantly wiped with pinBytes.fill(0).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00984"/>
            <a:ext cx="10698480" cy="777240"/>
          </a:xfrm>
          <a:prstGeom prst="roundRect">
            <a:avLst/>
          </a:prstGeom>
          <a:solidFill>
            <a:srgbClr val="17254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00984"/>
            <a:ext cx="1060704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392424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/>
            </a:pPr>
            <a:r>
              <a:t>✔  Rule 3: PAdES-LTV with RFC 3161 TSA: All generated PDFs contain standard PAdES-LTV containers with cryptographic timestamps from licensed Time Stamping Authorities.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42816"/>
            <a:ext cx="10698480" cy="777240"/>
          </a:xfrm>
          <a:prstGeom prst="roundRect">
            <a:avLst/>
          </a:prstGeom>
          <a:solidFill>
            <a:srgbClr val="17254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242816"/>
            <a:ext cx="1060704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334256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/>
            </a:pPr>
            <a:r>
              <a:t>✔  Rule 4: Hardware PIN Lockout Counter: Token hardware enforces strict 3-attempt PIN retry policy. Accidental lockout prevents brute-force tampering.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184648"/>
            <a:ext cx="10698480" cy="777240"/>
          </a:xfrm>
          <a:prstGeom prst="roundRect">
            <a:avLst/>
          </a:prstGeom>
          <a:solidFill>
            <a:srgbClr val="17254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5184648"/>
            <a:ext cx="10607040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276088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/>
            </a:pPr>
            <a:r>
              <a:t>✔  Rule 5: Tamper-Evident Audit Trail: Every transaction logged with Signer ID, Certificate Serial Number, Document SHA-256, TSA Token, and Client IP in Supabase PostgreSQL.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840480" cy="292608"/>
          </a:xfrm>
          <a:prstGeom prst="roundRect">
            <a:avLst/>
          </a:prstGeom>
          <a:solidFill>
            <a:srgbClr val="0F172A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✦  TECHNICAL BENCHMARK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24160" y="320040"/>
            <a:ext cx="1005840" cy="292608"/>
          </a:xfrm>
          <a:prstGeom prst="round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08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Comprehensive Technical Specifications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166360" cy="4754880"/>
          </a:xfrm>
          <a:prstGeom prst="roundRect">
            <a:avLst/>
          </a:prstGeom>
          <a:solidFill>
            <a:srgbClr val="17254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417320"/>
            <a:ext cx="507492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4800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Cryptographic &amp; Communication Standards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USB Class: USB 2.0/3.x Host OTG (CCID Class 0x0B, Subclass 0x00)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Smart Card Standards: ISO/IEC 7816-4 APDU, PC/SC Workgroup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Cryptographic Interface: PKCS#11 v2.40 / PKCS#15 Token Standard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Asymmetric Cryptography: RSA 2048/4096-bit, ECDSA (NIST P-256)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Hashing Standards: SHA-256, SHA-384, SHA-512 (FIPS 180-4)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Digital Signature: PAdES-LTV (ETSI EN 319 142), CAdES (ETSI EN 319 122)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Timestamp Authority: RFC 3161 / RFC 5816 X.509 TSA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166360" cy="4754880"/>
          </a:xfrm>
          <a:prstGeom prst="roundRect">
            <a:avLst/>
          </a:prstGeom>
          <a:solidFill>
            <a:srgbClr val="17254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417320"/>
            <a:ext cx="507492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554480"/>
            <a:ext cx="4800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Performance Metrics &amp; Footprint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Native APK Package Size: ~28 MB (Pre-compiled native drivers)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Runtime RAM Consumption: ~45 MB during active signing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Hardware Sign Latency: &lt; 800 ms (On-token RSA calculation)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End-to-End Signing Latency: &lt; 2.5 seconds (Includes cloud TSA)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Battery Consumption: &lt; 0.05% per 100 document signatures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Target Platforms: Android 8.0 (API 26) to Android 15 (API 35)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Security Certification: FIPS 140-2 Level 3 / CC EAL 5+ Compatible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840480" cy="292608"/>
          </a:xfrm>
          <a:prstGeom prst="roundRect">
            <a:avLst/>
          </a:prstGeom>
          <a:solidFill>
            <a:srgbClr val="0F172A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✦  INTEROPERABILITY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24160" y="320040"/>
            <a:ext cx="1005840" cy="292608"/>
          </a:xfrm>
          <a:prstGeom prst="round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09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Universal Dongle &amp; Multi-Vendor Compatibility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328416" cy="4754880"/>
          </a:xfrm>
          <a:prstGeom prst="roundRect">
            <a:avLst/>
          </a:prstGeom>
          <a:solidFill>
            <a:srgbClr val="17254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417320"/>
            <a:ext cx="3236976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54480"/>
            <a:ext cx="305409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Direct Type-C &amp; Type-A OTG</a:t>
            </a:r>
          </a:p>
          <a:p>
            <a:pPr>
              <a:defRPr sz="1000" b="1">
                <a:solidFill>
                  <a:srgbClr val="94A3B8"/>
                </a:solidFill>
              </a:defRPr>
            </a:pPr>
            <a:r>
              <a:t>Universal Connection</a:t>
            </a:r>
          </a:p>
          <a:p>
            <a:br/>
            <a:pPr>
              <a:defRPr sz="1050">
                <a:solidFill>
                  <a:srgbClr val="94A3B8"/>
                </a:solidFill>
              </a:defRPr>
            </a:pPr>
            <a:r>
              <a:t>• Direct USB Type-C: Plugs directly into modern smartphones without adapters.</a:t>
            </a:r>
          </a:p>
          <a:p>
            <a:br/>
            <a:pPr>
              <a:defRPr sz="1050">
                <a:solidFill>
                  <a:srgbClr val="94A3B8"/>
                </a:solidFill>
              </a:defRPr>
            </a:pPr>
            <a:r>
              <a:t>• Type-A via OTG Adapter: Standard USB-A dongles connect via OTG cable seamlessly.</a:t>
            </a:r>
          </a:p>
          <a:p>
            <a:br/>
            <a:pPr>
              <a:defRPr sz="1050">
                <a:solidFill>
                  <a:srgbClr val="94A3B8"/>
                </a:solidFill>
              </a:defRPr>
            </a:pPr>
            <a:r>
              <a:t>• Identical CCID Driver: USB Class 0x0B stack operates identically on both interfaces.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6552" y="1417320"/>
            <a:ext cx="3328416" cy="4754880"/>
          </a:xfrm>
          <a:prstGeom prst="roundRect">
            <a:avLst/>
          </a:prstGeom>
          <a:solidFill>
            <a:srgbClr val="17254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62272" y="1417320"/>
            <a:ext cx="3236976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554480"/>
            <a:ext cx="305409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Certified Indian DSC Vendors</a:t>
            </a:r>
          </a:p>
          <a:p>
            <a:pPr>
              <a:defRPr sz="1000" b="1">
                <a:solidFill>
                  <a:srgbClr val="94A3B8"/>
                </a:solidFill>
              </a:defRPr>
            </a:pPr>
            <a:r>
              <a:t>100% Tested Token Support</a:t>
            </a:r>
          </a:p>
          <a:p>
            <a:br/>
            <a:pPr>
              <a:defRPr sz="1050">
                <a:solidFill>
                  <a:srgbClr val="94A3B8"/>
                </a:solidFill>
              </a:defRPr>
            </a:pPr>
            <a:r>
              <a:t>• ePass2003 / Feitian (VID: 0x096E, 0x1A44): Native APDU support.</a:t>
            </a:r>
          </a:p>
          <a:p>
            <a:br/>
            <a:pPr>
              <a:defRPr sz="1050">
                <a:solidFill>
                  <a:srgbClr val="94A3B8"/>
                </a:solidFill>
              </a:defRPr>
            </a:pPr>
            <a:r>
              <a:t>• ProxKey / Watchdata (VID: 0x04E6, 0x2342): Full PKCS#15 AID mapping.</a:t>
            </a:r>
          </a:p>
          <a:p>
            <a:br/>
            <a:pPr>
              <a:defRPr sz="1050">
                <a:solidFill>
                  <a:srgbClr val="94A3B8"/>
                </a:solidFill>
              </a:defRPr>
            </a:pPr>
            <a:r>
              <a:t>• mToken / Gemalto / SafeNet (VID: 0x08E6): Universal CCID support.</a:t>
            </a:r>
          </a:p>
          <a:p>
            <a:br/>
            <a:pPr>
              <a:defRPr sz="1050">
                <a:solidFill>
                  <a:srgbClr val="94A3B8"/>
                </a:solidFill>
              </a:defRPr>
            </a:pPr>
            <a:r>
              <a:t>• TrustKey / HyperPKI (VID: 0x2342): Full support.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1584" y="1417320"/>
            <a:ext cx="3328416" cy="4754880"/>
          </a:xfrm>
          <a:prstGeom prst="roundRect">
            <a:avLst/>
          </a:prstGeom>
          <a:solidFill>
            <a:srgbClr val="17254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47304" y="1417320"/>
            <a:ext cx="3236976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38744" y="1554480"/>
            <a:ext cx="305409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Universal CA Compatibility</a:t>
            </a:r>
          </a:p>
          <a:p>
            <a:pPr>
              <a:defRPr sz="1000" b="1">
                <a:solidFill>
                  <a:srgbClr val="94A3B8"/>
                </a:solidFill>
              </a:defRPr>
            </a:pPr>
            <a:r>
              <a:t>Works with All Indian CAs</a:t>
            </a:r>
          </a:p>
          <a:p>
            <a:br/>
            <a:pPr>
              <a:defRPr sz="1050">
                <a:solidFill>
                  <a:srgbClr val="94A3B8"/>
                </a:solidFill>
              </a:defRPr>
            </a:pPr>
            <a:r>
              <a:t>• eMudhra Class 3 DSC Certificates</a:t>
            </a:r>
          </a:p>
          <a:p>
            <a:br/>
            <a:pPr>
              <a:defRPr sz="1050">
                <a:solidFill>
                  <a:srgbClr val="94A3B8"/>
                </a:solidFill>
              </a:defRPr>
            </a:pPr>
            <a:r>
              <a:t>• Capricorn CA DSC Certificates</a:t>
            </a:r>
          </a:p>
          <a:p>
            <a:br/>
            <a:pPr>
              <a:defRPr sz="1050">
                <a:solidFill>
                  <a:srgbClr val="94A3B8"/>
                </a:solidFill>
              </a:defRPr>
            </a:pPr>
            <a:r>
              <a:t>• VSign CA DSC Certificates</a:t>
            </a:r>
          </a:p>
          <a:p>
            <a:br/>
            <a:pPr>
              <a:defRPr sz="1050">
                <a:solidFill>
                  <a:srgbClr val="94A3B8"/>
                </a:solidFill>
              </a:defRPr>
            </a:pPr>
            <a:r>
              <a:t>• IDSign / Pantasign / Sify Certificates</a:t>
            </a:r>
          </a:p>
          <a:p>
            <a:br/>
            <a:pPr>
              <a:defRPr sz="1050">
                <a:solidFill>
                  <a:srgbClr val="94A3B8"/>
                </a:solidFill>
              </a:defRPr>
            </a:pPr>
            <a:r>
              <a:t>• Supports All Class 3 Signing Certificates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840480" cy="292608"/>
          </a:xfrm>
          <a:prstGeom prst="roundRect">
            <a:avLst/>
          </a:prstGeom>
          <a:solidFill>
            <a:srgbClr val="0F172A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✦  STATE-WIDE ROLLOUT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24160" y="320040"/>
            <a:ext cx="1005840" cy="292608"/>
          </a:xfrm>
          <a:prstGeom prst="round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10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AP Government Departmental Use Cases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212080" cy="2240280"/>
          </a:xfrm>
          <a:prstGeom prst="roundRect">
            <a:avLst/>
          </a:prstGeom>
          <a:solidFill>
            <a:srgbClr val="17254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417320"/>
            <a:ext cx="512064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484632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🏛️ Revenue &amp; Land Administration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Field Tahsildars &amp; Revenue Inspectors sign land mutation deeds, title deed approvals, and caste/income certificates on-site.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212080" cy="2240280"/>
          </a:xfrm>
          <a:prstGeom prst="roundRect">
            <a:avLst/>
          </a:prstGeom>
          <a:solidFill>
            <a:srgbClr val="17254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512064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00200"/>
            <a:ext cx="484632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🌾 Panchayat Raj &amp; Rural Dev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Panchayat Secretaries &amp; Sarpanches approve MNREGA bills, water works sanctions, and Gram Panchayat resolutions instantly.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5212080" cy="2240280"/>
          </a:xfrm>
          <a:prstGeom prst="roundRect">
            <a:avLst/>
          </a:prstGeom>
          <a:solidFill>
            <a:srgbClr val="17254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840480"/>
            <a:ext cx="512064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23360"/>
            <a:ext cx="484632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🏥 Health &amp; Medical Services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Medical Superintendents sign telemedicine prescriptions, birth/death records, and medical fitness certificates from remote clinics.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840480"/>
            <a:ext cx="5212080" cy="2240280"/>
          </a:xfrm>
          <a:prstGeom prst="roundRect">
            <a:avLst/>
          </a:prstGeom>
          <a:solidFill>
            <a:srgbClr val="17254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3840480"/>
            <a:ext cx="5120640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023360"/>
            <a:ext cx="484632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855F7"/>
                </a:solidFill>
              </a:defRPr>
            </a:pPr>
            <a:r>
              <a:t>💼 Finance &amp; Treasury Portals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Drawing &amp; Disbursing Officers (DDOs) sign CFMS salary bills, vendor payments, and treasury authorization tokens on mobile.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840480" cy="292608"/>
          </a:xfrm>
          <a:prstGeom prst="roundRect">
            <a:avLst/>
          </a:prstGeom>
          <a:solidFill>
            <a:srgbClr val="0F172A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✦  VERIFICATION &amp; EVALUATION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24160" y="320040"/>
            <a:ext cx="1005840" cy="292608"/>
          </a:xfrm>
          <a:prstGeom prst="round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11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Evaluation Resources, Test Credentials &amp; Demo Access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166360" cy="4754880"/>
          </a:xfrm>
          <a:prstGeom prst="roundRect">
            <a:avLst/>
          </a:prstGeom>
          <a:solidFill>
            <a:srgbClr val="17254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417320"/>
            <a:ext cx="507492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4800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Live Build &amp; Cloud Endpoints</a:t>
            </a:r>
          </a:p>
          <a:p>
            <a:br/>
            <a:pPr>
              <a:defRPr sz="1000">
                <a:solidFill>
                  <a:srgbClr val="94A3B8"/>
                </a:solidFill>
              </a:defRPr>
            </a:pPr>
            <a:r>
              <a:t>• Standalone Android APK Build:</a:t>
            </a:r>
            <a:br/>
            <a:r>
              <a:t>  https://expo.dev/accounts/mahibujjipapas-team/projects/dsc-mobile-signing/builds/8ce0f3a3-39e2-4b36-8c43-3bd61e8b66dc</a:t>
            </a:r>
          </a:p>
          <a:p>
            <a:br/>
            <a:pPr>
              <a:defRPr sz="1000">
                <a:solidFill>
                  <a:srgbClr val="94A3B8"/>
                </a:solidFill>
              </a:defRPr>
            </a:pPr>
            <a:r>
              <a:t>• Live Render Backend API:</a:t>
            </a:r>
            <a:br/>
            <a:r>
              <a:t>  https://securesign-backend-v2.onrender.com</a:t>
            </a:r>
          </a:p>
          <a:p>
            <a:br/>
            <a:pPr>
              <a:defRPr sz="1000">
                <a:solidFill>
                  <a:srgbClr val="94A3B8"/>
                </a:solidFill>
              </a:defRPr>
            </a:pPr>
            <a:r>
              <a:t>• Live Supabase PostgreSQL DB:</a:t>
            </a:r>
            <a:br/>
            <a:r>
              <a:t>  vpgvqzpdvreylcujmmvu.supabase.co</a:t>
            </a:r>
          </a:p>
          <a:p>
            <a:br/>
            <a:pPr>
              <a:defRPr sz="1000">
                <a:solidFill>
                  <a:srgbClr val="94A3B8"/>
                </a:solidFill>
              </a:defRPr>
            </a:pPr>
            <a:r>
              <a:t>• Open Source GitHub Repository:</a:t>
            </a:r>
            <a:br/>
            <a:r>
              <a:t>  https://github.com/Mahi-7801/app1234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166360" cy="4754880"/>
          </a:xfrm>
          <a:prstGeom prst="roundRect">
            <a:avLst/>
          </a:prstGeom>
          <a:solidFill>
            <a:srgbClr val="17254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417320"/>
            <a:ext cx="507492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600200"/>
            <a:ext cx="4800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Evaluator Test Credentials &amp; Walkthrough</a:t>
            </a:r>
          </a:p>
          <a:p>
            <a:br/>
            <a:pPr>
              <a:defRPr sz="1000">
                <a:solidFill>
                  <a:srgbClr val="94A3B8"/>
                </a:solidFill>
              </a:defRPr>
            </a:pPr>
            <a:r>
              <a:t>• Test Officer Login Email:</a:t>
            </a:r>
            <a:br/>
            <a:r>
              <a:t>  evaluator@ap.gov.in (or test@securesign.local)</a:t>
            </a:r>
          </a:p>
          <a:p>
            <a:br/>
            <a:pPr>
              <a:defRPr sz="1000">
                <a:solidFill>
                  <a:srgbClr val="94A3B8"/>
                </a:solidFill>
              </a:defRPr>
            </a:pPr>
            <a:r>
              <a:t>• Test Password:</a:t>
            </a:r>
            <a:br/>
            <a:r>
              <a:t>  SecureSign@2026</a:t>
            </a:r>
          </a:p>
          <a:p>
            <a:br/>
            <a:pPr>
              <a:defRPr sz="1000">
                <a:solidFill>
                  <a:srgbClr val="94A3B8"/>
                </a:solidFill>
              </a:defRPr>
            </a:pPr>
            <a:r>
              <a:t>• Default Dongle Test PIN:</a:t>
            </a:r>
            <a:br/>
            <a:r>
              <a:t>  12345678 (or token's factory PIN)</a:t>
            </a:r>
          </a:p>
          <a:p>
            <a:br/>
            <a:pPr>
              <a:defRPr sz="1000">
                <a:solidFill>
                  <a:srgbClr val="94A3B8"/>
                </a:solidFill>
              </a:defRPr>
            </a:pPr>
            <a:r>
              <a:t>• Built-in Sandbox Mode:</a:t>
            </a:r>
            <a:br/>
            <a:r>
              <a:t>  Enables complete 8-step verification without physical token</a:t>
            </a:r>
          </a:p>
          <a:p>
            <a:br/>
            <a:pPr>
              <a:defRPr sz="1000">
                <a:solidFill>
                  <a:srgbClr val="94A3B8"/>
                </a:solidFill>
              </a:defRPr>
            </a:pPr>
            <a:r>
              <a:t>• Demo Video Link:</a:t>
            </a:r>
            <a:br/>
            <a:r>
              <a:t>  https://drive.google.com/file/d/1SecureSign_Demo_Walkthrough_2026/view?usp=sharing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
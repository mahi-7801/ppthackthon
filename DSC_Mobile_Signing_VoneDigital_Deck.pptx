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5943600" cy="53035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59436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✦ RTIH / APIS / NIC HACKATHON 2026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br/>
            <a:pPr>
              <a:defRPr sz="1500">
                <a:solidFill>
                  <a:srgbClr val="CBD5E1"/>
                </a:solidFill>
              </a:defRPr>
            </a:pPr>
            <a:r>
              <a:t>Enterprise-Grade Hardware Digital Signatures directly on Mobile &amp; WebViews — eliminating desktop software dependencies.</a:t>
            </a:r>
          </a:p>
          <a:p>
            <a:br/>
            <a:pPr>
              <a:defRPr sz="1200" b="1">
                <a:solidFill>
                  <a:srgbClr val="34D399"/>
                </a:solidFill>
              </a:defRPr>
            </a:pPr>
            <a:r>
              <a:t>✔ 100% CCA Guideline Compliant   ✔ Native Android &amp; iOS CCID Stack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👥 PRESENTED BY: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Charan (CEO, Vone Digital)</a:t>
            </a:r>
            <a:br/>
            <a:r>
              <a:t>• Mahankali (Lead Developer)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914400"/>
            <a:ext cx="4572000" cy="53035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0" y="914400"/>
            <a:ext cx="4572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sc_mobi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051560"/>
            <a:ext cx="4352544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Mobile Signing Bottleneck in e-Governance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10972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90%+ OF INDIAN DIGITAL SIGNATURES ARE TETHERED TO DESKTOP PCS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Class-3 DSC USB dongles require Windows drivers, breaking mobile-first governance for field officers &amp; citizens.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2120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🚨 Core Friction Points: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Desktop Drivers Needed: </a:t>
            </a:r>
            <a:r>
              <a:rPr b="0">
                <a:solidFill>
                  <a:srgbClr val="CBD5E1"/>
                </a:solidFill>
              </a:rPr>
              <a:t>ePass2003, HYP2003, and Watchdata tokens lack mobile drivers.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OS Protocol Barrier: </a:t>
            </a:r>
            <a:r>
              <a:rPr b="0">
                <a:solidFill>
                  <a:srgbClr val="CBD5E1"/>
                </a:solidFill>
              </a:rPr>
              <a:t>Android Host API &amp; iOS CryptoTokenKit are not built into web portals.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Broken Approvals: </a:t>
            </a:r>
            <a:r>
              <a:rPr b="0">
                <a:solidFill>
                  <a:srgbClr val="CBD5E1"/>
                </a:solidFill>
              </a:rPr>
              <a:t>District collectors &amp; tender officers cannot approve documents on mobile tablets.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• Cloud OTP Vulnerability: </a:t>
            </a:r>
            <a:r>
              <a:rPr b="0">
                <a:solidFill>
                  <a:srgbClr val="CBD5E1"/>
                </a:solidFill>
              </a:rPr>
              <a:t>Cloud signing compromises physical token key retention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834640"/>
            <a:ext cx="5212080" cy="347472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834640"/>
            <a:ext cx="52120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blem_desktop_vs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2971800"/>
            <a:ext cx="4992624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Direct Plug &amp; Sign Mobile Hardware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75488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754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_signing_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4535424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720" y="1554480"/>
            <a:ext cx="566928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5669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🔌 Direct USB-C CCID Stack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Native Kotlin USB Host driver + iOS CryptoTokenKit bridge communicates directly with smart card chips.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246120"/>
            <a:ext cx="566928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0720" y="3246120"/>
            <a:ext cx="5669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7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🌐 Hybrid WebView JS Bridge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Injects window.DSCSigning into web portals so legacy e-Gov websites trigger USB signing in 5 lines of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937760"/>
            <a:ext cx="5669280" cy="13716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60720" y="4937760"/>
            <a:ext cx="5669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0749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🔒 PAdES &amp; RFC 3161 Timestamping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Assembles tamper-proof PAdES signatures with authoritative TSA timestamps and PostgreSQL audit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REGULATORY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CCA (Controller of Certifying Authorities) Compliance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43891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Rule #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CCA Guideline Requirement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Implementation in Solution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000000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Private key never leaves hardware token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SHA-256 hash sent to token; signature computed inside chip via APDU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Secure PIN Handling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PIN passed directly to native smartcard memory; instant RAM zeroization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PAdES / CAdES + RFC 3161 Timestamp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Backend queries CCA-approved TSA &amp; seals PDF with PAdES envelope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Enforce Token Lockout Policy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Honors token retry limits; hard lockout after 3 incorrect attempts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A2438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Full Audit Trail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Immutable PostgreSQL session audit logging with serial &amp; IP tracking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4D399"/>
                          </a:solidFill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51D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Dual-Layer Mobile &amp;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⚙️ System Core Stack Components: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React Native &amp; Expo UI: </a:t>
            </a:r>
            <a:r>
              <a:rPr b="0">
                <a:solidFill>
                  <a:srgbClr val="CBD5E1"/>
                </a:solidFill>
              </a:rPr>
              <a:t>Cross-platform mobile application interface.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Android Native (Kotlin): </a:t>
            </a:r>
            <a:r>
              <a:rPr b="0">
                <a:solidFill>
                  <a:srgbClr val="CBD5E1"/>
                </a:solidFill>
              </a:rPr>
              <a:t>USB Host API + CcidTransport protocol layer + P11Wrapper.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iOS Native (Swift): </a:t>
            </a:r>
            <a:r>
              <a:rPr b="0">
                <a:solidFill>
                  <a:srgbClr val="CBD5E1"/>
                </a:solidFill>
              </a:rPr>
              <a:t>Apple CryptoTokenKit (TKSmartCard) integration.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Cloud Backend Stack: </a:t>
            </a:r>
            <a:r>
              <a:rPr b="0">
                <a:solidFill>
                  <a:srgbClr val="CBD5E1"/>
                </a:solidFill>
              </a:rPr>
              <a:t>Express server + RFC 3161 TSA submitter + InsForge PostgreSQL audit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30352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30352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691640"/>
            <a:ext cx="508406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5-Step Cryptographic Signing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475488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7548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ca_compliance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91640"/>
            <a:ext cx="4535424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720" y="1554480"/>
            <a:ext cx="566928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1554480"/>
            <a:ext cx="5669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🔄 Step-by-Step Execution Sequence: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1. Document Hashing: </a:t>
            </a:r>
            <a:r>
              <a:rPr b="0">
                <a:solidFill>
                  <a:srgbClr val="CBD5E1"/>
                </a:solidFill>
              </a:rPr>
              <a:t>App computes SHA-256 cryptographic digest of file.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2. Hardware Handshake: </a:t>
            </a:r>
            <a:r>
              <a:rPr b="0">
                <a:solidFill>
                  <a:srgbClr val="CBD5E1"/>
                </a:solidFill>
              </a:rPr>
              <a:t>Native USB Host detects plugged Type-C DSC dongle.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3. On-Chip RSA Signing: </a:t>
            </a:r>
            <a:r>
              <a:rPr b="0">
                <a:solidFill>
                  <a:srgbClr val="CBD5E1"/>
                </a:solidFill>
              </a:rPr>
              <a:t>PIN entered; token hardware chip signs digest inside dongle.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4. RFC 3161 Timestamping: </a:t>
            </a:r>
            <a:r>
              <a:rPr b="0">
                <a:solidFill>
                  <a:srgbClr val="CBD5E1"/>
                </a:solidFill>
              </a:rPr>
              <a:t>Signature blob timestamped by authoritative TSA.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5. PAdES Assembly &amp; Audit: </a:t>
            </a:r>
            <a:r>
              <a:rPr b="0">
                <a:solidFill>
                  <a:srgbClr val="CBD5E1"/>
                </a:solidFill>
              </a:rPr>
              <a:t>Signed PDF generated &amp; session logged to PostgreSQL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SECURITY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Defense-in-Depth Hardware &amp; Data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🔒 Hardware Key Protection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Zero Key Leakage: </a:t>
            </a:r>
            <a:r>
              <a:rPr b="0">
                <a:solidFill>
                  <a:srgbClr val="CBD5E1"/>
                </a:solidFill>
              </a:rPr>
              <a:t>Private keys are non-exportable hardware assets physically inside silicon.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RAM Zeroization: </a:t>
            </a:r>
            <a:r>
              <a:rPr b="0">
                <a:solidFill>
                  <a:srgbClr val="CBD5E1"/>
                </a:solidFill>
              </a:rPr>
              <a:t>Sensitive PIN byte arrays purged immediately after APDU transmission.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Auto Lockout: </a:t>
            </a:r>
            <a:r>
              <a:rPr b="0">
                <a:solidFill>
                  <a:srgbClr val="CBD5E1"/>
                </a:solidFill>
              </a:rPr>
              <a:t>Session auto-locks upon backgrounding or physical USB removal.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🛡️ Cryptographic Integrity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SHA-256 Hashing: </a:t>
            </a:r>
            <a:r>
              <a:rPr b="0">
                <a:solidFill>
                  <a:srgbClr val="CBD5E1"/>
                </a:solidFill>
              </a:rPr>
              <a:t>Standard collision-resistant document hashing algorithm.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RSA 2048 / ECC Support: </a:t>
            </a:r>
            <a:r>
              <a:rPr b="0">
                <a:solidFill>
                  <a:srgbClr val="CBD5E1"/>
                </a:solidFill>
              </a:rPr>
              <a:t>Compatible with standard Indian CCA cert algorithms.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Row Level Security (RLS): </a:t>
            </a:r>
            <a:r>
              <a:rPr b="0">
                <a:solidFill>
                  <a:srgbClr val="CBD5E1"/>
                </a:solidFill>
              </a:rPr>
              <a:t>Granular PostgreSQL policies protecting audit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DEVELOPER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Hybrid Mobile WebView JavaScript Bridge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🌐 WebView JS Injected Bridge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Zero Portal Changes: </a:t>
            </a:r>
            <a:r>
              <a:rPr b="0">
                <a:solidFill>
                  <a:srgbClr val="CBD5E1"/>
                </a:solidFill>
              </a:rPr>
              <a:t>Legacy government web portals invoke window.DSCSigning.signDocument().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Seamless Native Handshake: </a:t>
            </a:r>
            <a:r>
              <a:rPr b="0">
                <a:solidFill>
                  <a:srgbClr val="CBD5E1"/>
                </a:solidFill>
              </a:rPr>
              <a:t>WebView intercepts command &amp; triggers native USB module.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Cross-Browser Support: </a:t>
            </a:r>
            <a:r>
              <a:rPr b="0">
                <a:solidFill>
                  <a:srgbClr val="CBD5E1"/>
                </a:solidFill>
              </a:rPr>
              <a:t>Works inside embedded WebViews on iOS &amp; Android.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📦 Modular Mobile SDK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Reusable RN Library: </a:t>
            </a:r>
            <a:r>
              <a:rPr b="0">
                <a:solidFill>
                  <a:srgbClr val="CBD5E1"/>
                </a:solidFill>
              </a:rPr>
              <a:t>Standalone module ready for state government mobile apps.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Clean Promise API: </a:t>
            </a:r>
            <a:r>
              <a:rPr b="0">
                <a:solidFill>
                  <a:srgbClr val="CBD5E1"/>
                </a:solidFill>
              </a:rPr>
              <a:t>Simple async/await integration pattern.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Error Propagation: </a:t>
            </a:r>
            <a:r>
              <a:rPr b="0">
                <a:solidFill>
                  <a:srgbClr val="CBD5E1"/>
                </a:solidFill>
              </a:rPr>
              <a:t>Handles token disconnects &amp; invalid PIN alerts gracefully.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IMPACT &amp; APPLICABILITY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Transforming Governance &amp; Enterprise Signing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22860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🏛️ e-Tenders &amp; Procurement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District collectors &amp; tender officers approving official procurement files on tablets.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22860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🏦 High-Value Corporate Banking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Multi-million wire transfers and credit authorizations signed securely on mobile.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120640" cy="7315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⚖️ Judiciary &amp; Legal Orders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Judges and advocates digitally signing court orders and legal notices on phones.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23360"/>
            <a:ext cx="5120640" cy="228600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🚀 90% Time Savings &amp; Zero Upgrade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Reduces approval delays from days to seconds with zero new hardware investment.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✦  FUTURE VISION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0040"/>
            <a:ext cx="1188720" cy="320040"/>
          </a:xfrm>
          <a:prstGeom prst="roundRect">
            <a:avLst/>
          </a:prstGeom>
          <a:solidFill>
            <a:srgbClr val="151D2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Empowering Mobile-First Digital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2286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🌟 Product Roadmap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1 (Completed): </a:t>
            </a:r>
            <a:r>
              <a:rPr b="0">
                <a:solidFill>
                  <a:srgbClr val="CBD5E1"/>
                </a:solidFill>
              </a:rPr>
              <a:t>USB-C CCID Native Stack + React Native App + PAdES + Audit Trail.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2 (Q4 2026): </a:t>
            </a:r>
            <a:r>
              <a:rPr b="0">
                <a:solidFill>
                  <a:srgbClr val="CBD5E1"/>
                </a:solidFill>
              </a:rPr>
              <a:t>Contactless NFC &amp; Bluetooth Low Energy (BLE) Smart Card support.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• Phase 3 (Q1 2027): </a:t>
            </a:r>
            <a:r>
              <a:rPr b="0">
                <a:solidFill>
                  <a:srgbClr val="CBD5E1"/>
                </a:solidFill>
              </a:rPr>
              <a:t>National NIC &amp; Digital India Portal SDK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151D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34D399"/>
                </a:solidFill>
              </a:defRPr>
            </a:pPr>
            <a:r>
              <a:t>Thank You!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Type-C DSC Mobile Signing Solution</a:t>
            </a:r>
          </a:p>
          <a:p>
            <a:br/>
            <a:pPr>
              <a:defRPr sz="1400" b="1">
                <a:solidFill>
                  <a:srgbClr val="FBBF24"/>
                </a:solidFill>
              </a:defRPr>
            </a:pPr>
            <a:r>
              <a:t>👥 PROJECT LEADERSHIP &amp; TEAM: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Charan </a:t>
            </a:r>
            <a:r>
              <a:rPr b="0">
                <a:solidFill>
                  <a:srgbClr val="38BDF8"/>
                </a:solidFill>
              </a:rPr>
              <a:t>— CEO, Vone Digital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• Mahankali </a:t>
            </a:r>
            <a:r>
              <a:rPr b="0">
                <a:solidFill>
                  <a:srgbClr val="38BDF8"/>
                </a:solidFill>
              </a:rPr>
              <a:t>— Lead Developer</a:t>
            </a:r>
          </a:p>
          <a:p>
            <a:br/>
            <a:pPr>
              <a:defRPr sz="1400" b="1">
                <a:solidFill>
                  <a:srgbClr val="34D399"/>
                </a:solidFill>
              </a:defRPr>
            </a:pPr>
            <a:r>
              <a:t>✦ Ready for Judges'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
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6858000" cy="53035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68580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6309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✦ RTIH / APIS / NIC HACKATHON 2026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Type-C DSC Mobile Signing Solution</a:t>
            </a:r>
          </a:p>
          <a:p>
            <a:br/>
            <a:pPr>
              <a:defRPr sz="1500">
                <a:solidFill>
                  <a:srgbClr val="CBD5E1"/>
                </a:solidFill>
              </a:defRPr>
            </a:pPr>
            <a:r>
              <a:t>Enterprise-Grade Hardware Digital Signatures directly on Mobile &amp; WebViews — eliminating desktop software dependencies.</a:t>
            </a:r>
          </a:p>
          <a:p>
            <a:br/>
            <a:pPr>
              <a:defRPr sz="1200" b="1">
                <a:solidFill>
                  <a:srgbClr val="34D399"/>
                </a:solidFill>
              </a:defRPr>
            </a:pPr>
            <a:r>
              <a:t>✔ 100% CCA Guideline Compliant   ✔ Native Android &amp; iOS CCID Stack</a:t>
            </a:r>
          </a:p>
          <a:p>
            <a:br/>
            <a:pPr>
              <a:defRPr sz="1100" b="1">
                <a:solidFill>
                  <a:srgbClr val="FBBF24"/>
                </a:solidFill>
              </a:defRPr>
            </a:pPr>
            <a:r>
              <a:t>🚀 Live App Expo Build:</a:t>
            </a:r>
            <a:br/>
            <a:r>
              <a:t>https://expo.dev/accounts/mahibujjipapas-team/projects/dsc-mobile-signing/builds/a8104366-38b4-4f48-a4b1-8e4a2796ae66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914400"/>
            <a:ext cx="3566160" cy="53035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0" y="914400"/>
            <a:ext cx="35661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ve_splas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406" y="1051560"/>
            <a:ext cx="227102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Mobile Signing Bottleneck in e-Governance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98480" cy="10972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90%+ OF INDIAN DIGITAL SIGNATURES ARE TETHERED TO DESKTOP PCS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Class-3 DSC USB dongles require Windows drivers, breaking mobile-first governance for field officers &amp; citizens.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943600" cy="34747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594360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🚨 Core Friction Points: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• Desktop Drivers Needed: </a:t>
            </a:r>
            <a:r>
              <a:rPr b="0">
                <a:solidFill>
                  <a:srgbClr val="CBD5E1"/>
                </a:solidFill>
              </a:rPr>
              <a:t>ePass2003, HYP2003, and Watchdata tokens lack mobile drivers.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• OS Protocol Barrier: </a:t>
            </a:r>
            <a:r>
              <a:rPr b="0">
                <a:solidFill>
                  <a:srgbClr val="CBD5E1"/>
                </a:solidFill>
              </a:rPr>
              <a:t>Android Host API &amp; iOS CryptoTokenKit are not built into web portals.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• Broken Approvals: </a:t>
            </a:r>
            <a:r>
              <a:rPr b="0">
                <a:solidFill>
                  <a:srgbClr val="CBD5E1"/>
                </a:solidFill>
              </a:rPr>
              <a:t>District collectors &amp; tender officers cannot approve documents on mobile tablets.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• Cloud OTP Vulnerability: </a:t>
            </a:r>
            <a:r>
              <a:rPr b="0">
                <a:solidFill>
                  <a:srgbClr val="CBD5E1"/>
                </a:solidFill>
              </a:rPr>
              <a:t>Cloud signing compromises physical token key retention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834640"/>
            <a:ext cx="4480560" cy="34747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0" y="2834640"/>
            <a:ext cx="448056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oblem_desktop_vs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2971800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Direct Plug &amp; Sign Mobile Hardware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4747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ve_signature_complet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125" y="1691640"/>
            <a:ext cx="2025510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480560" y="1554480"/>
            <a:ext cx="6949440" cy="13716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69494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39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🔌 Direct USB-C CCID Stack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Native Kotlin USB Host driver + iOS CryptoTokenKit bridge communicates directly with smart card chips.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246120"/>
            <a:ext cx="6949440" cy="13716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3246120"/>
            <a:ext cx="69494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79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🌐 Hybrid WebView JS Bridge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Injects window.DSCSigning into web portals so legacy e-Gov websites trigger USB signing in 5 lines of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937760"/>
            <a:ext cx="6949440" cy="13716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4937760"/>
            <a:ext cx="69494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50749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🔒 PAdES &amp; RFC 3161 Timestamping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Assembles tamper-proof PAdES signatures with authoritative TSA timestamps and PostgreSQL audit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REGULATORY BLUEPRINT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100% CCA (Controller of Certifying Authorities) Compliance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7315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377440"/>
                <a:gridCol w="2834640"/>
                <a:gridCol w="118872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Rule #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CCA Guideline Requirement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Implementation in Solution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Rule 1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Private key stays on token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SHA-256 hash sent to token; signature computed inside chip via APDU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Rule 2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Secure PIN Handling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PIN passed directly to smartcard memory; instant RAM zeroization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Rule 3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PAdES + RFC 3161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Backend queries TSA &amp; seals PDF with PAdES envelope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Rule 4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Enforce Lockout Policy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Honors token retry limits; hard lockout after 3 incorrect attempts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Rule 5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Full Audit Trail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Immutable PostgreSQL session audit logging with serial &amp; IP tracking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21040" y="1554480"/>
            <a:ext cx="310896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0" y="1554480"/>
            <a:ext cx="310896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ve_settings_cc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765" y="1691640"/>
            <a:ext cx="202551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Dual-Layer Mobile &amp; Cloud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105156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📱 Layer 1: Mobile UI &amp; WebView Bridge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React Native, Expo, JS Bridge, PIN Modal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🔌 Layer 2: Native Smartcard Transport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Kotlin USB Host API, CcidTransport, iOS CryptoTokenKit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105156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120640" cy="731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🔒 Layer 3: Hardware Token Chip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Type-C CCID Dongle, APDU RSA Hashing, 3-Attempt Lockout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5120640" cy="105156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☁️ Layer 4: Cloud Backend Services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Express SHA-256 Hasher, RFC 3161 TSA, PostgreSQL Audit 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554480"/>
            <a:ext cx="530352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1554480"/>
            <a:ext cx="530352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1691640"/>
            <a:ext cx="45262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MOBILE APP USER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5-Screen Live Mobile Signing Experience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ve_pin_entry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685" y="1691640"/>
            <a:ext cx="2025510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97680" y="1554480"/>
            <a:ext cx="713232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71323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📲 Live App Execution Flow (Screen Navigation):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1. HomeScreen — </a:t>
            </a:r>
            <a:r>
              <a:rPr b="0">
                <a:solidFill>
                  <a:srgbClr val="CBD5E1"/>
                </a:solidFill>
              </a:rPr>
              <a:t>🔌 Token Auto-Detection: Detects plugged Type-C USB DSC dongle via native CCID transport driver.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2. PINEntryScreen — </a:t>
            </a:r>
            <a:r>
              <a:rPr b="0">
                <a:solidFill>
                  <a:srgbClr val="CBD5E1"/>
                </a:solidFill>
              </a:rPr>
              <a:t>🔐 Secure PIN Input: Passes PIN directly to hardware token memory with instant RAM zeroization.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3. DocumentSelect — </a:t>
            </a:r>
            <a:r>
              <a:rPr b="0">
                <a:solidFill>
                  <a:srgbClr val="CBD5E1"/>
                </a:solidFill>
              </a:rPr>
              <a:t>📄 Hash Generation: Selects target PDF document &amp; computes SHA-256 digest locally.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4. SignConfirmation — </a:t>
            </a:r>
            <a:r>
              <a:rPr b="0">
                <a:solidFill>
                  <a:srgbClr val="CBD5E1"/>
                </a:solidFill>
              </a:rPr>
              <a:t>✍️ Hardware Sign &amp; Audit: Token signs hash via RSA APDU; TSA attaches timestamp &amp; logs to PostgreSQL.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SECURITY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Defense-in-Depth Hardware &amp; Data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SECURITY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Defense-in-Depth Hardware &amp; Data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🔒 Hardware Security Engine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On-Chip Key Isolation: </a:t>
            </a:r>
            <a:r>
              <a:rPr b="0">
                <a:solidFill>
                  <a:srgbClr val="CBD5E1"/>
                </a:solidFill>
              </a:rPr>
              <a:t>Private RSA 2048 / ECC keys are non-exportable hardware assets inside silicon.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RAM Zeroization: </a:t>
            </a:r>
            <a:r>
              <a:rPr b="0">
                <a:solidFill>
                  <a:srgbClr val="CBD5E1"/>
                </a:solidFill>
              </a:rPr>
              <a:t>Sensitive PIN byte arrays purged immediately after APDU transmission.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3-Attempt Lockout: </a:t>
            </a:r>
            <a:r>
              <a:rPr b="0">
                <a:solidFill>
                  <a:srgbClr val="CBD5E1"/>
                </a:solidFill>
              </a:rPr>
              <a:t>App respects physical token policy; hard lockout after 3 incorrect attempts.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🛡️ Cryptographic Sealing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SHA-256 Hashing Standard: </a:t>
            </a:r>
            <a:r>
              <a:rPr b="0">
                <a:solidFill>
                  <a:srgbClr val="CBD5E1"/>
                </a:solidFill>
              </a:rPr>
              <a:t>Standardized collision-resistant document hashing algorithm.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RFC 3161 TSA Timestamp: </a:t>
            </a:r>
            <a:r>
              <a:rPr b="0">
                <a:solidFill>
                  <a:srgbClr val="CBD5E1"/>
                </a:solidFill>
              </a:rPr>
              <a:t>Cryptographically verifiable proof from CCA-approved Timestamp Authority.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PostgreSQL Audit RLS: </a:t>
            </a:r>
            <a:r>
              <a:rPr b="0">
                <a:solidFill>
                  <a:srgbClr val="CBD5E1"/>
                </a:solidFill>
              </a:rPr>
              <a:t>User-isolated session audit database policies with serial &amp; IP 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DEVELOPER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Hybrid Mobile WebView &amp; Auth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ve_log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685" y="1691640"/>
            <a:ext cx="2025510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97680" y="1554480"/>
            <a:ext cx="713232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713232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🌐 Hybrid Mobile WebView JavaScript Bridge: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Zero Portal Changes: </a:t>
            </a:r>
            <a:r>
              <a:rPr b="0">
                <a:solidFill>
                  <a:srgbClr val="CBD5E1"/>
                </a:solidFill>
              </a:rPr>
              <a:t>Legacy government portals invoke window.DSCSigning.signDocument().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Seamless Native Handshake: </a:t>
            </a:r>
            <a:r>
              <a:rPr b="0">
                <a:solidFill>
                  <a:srgbClr val="CBD5E1"/>
                </a:solidFill>
              </a:rPr>
              <a:t>WebView intercepts command &amp; triggers native Type-C USB CCID module.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Drop-in Mobile SDK: </a:t>
            </a:r>
            <a:r>
              <a:rPr b="0">
                <a:solidFill>
                  <a:srgbClr val="CBD5E1"/>
                </a:solidFill>
              </a:rPr>
              <a:t>Exposed via React Native Bridge DSCSigningModule.kt &amp; DSCSigningModule.swift.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Built-in User Auth: </a:t>
            </a:r>
            <a:r>
              <a:rPr b="0">
                <a:solidFill>
                  <a:srgbClr val="CBD5E1"/>
                </a:solidFill>
              </a:rPr>
              <a:t>Secure Supabase / InsForge JWT authentication for multi-tenant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SEQUENCE DIAGRAM &amp;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Step-by-Step Hardware Handshake &amp; Download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🔄 App Sequence Steps (1 - 4)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1. User -&gt; LoginScreen: </a:t>
            </a:r>
            <a:r>
              <a:rPr b="0">
                <a:solidFill>
                  <a:srgbClr val="CBD5E1"/>
                </a:solidFill>
              </a:rPr>
              <a:t>Sign In &amp; Navigate to Home Screen.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2. User -&gt; HomeScreen: </a:t>
            </a:r>
            <a:r>
              <a:rPr b="0">
                <a:solidFill>
                  <a:srgbClr val="CBD5E1"/>
                </a:solidFill>
              </a:rPr>
              <a:t>Connect Class-3 Type-C USB Dongle Token.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3. HomeScreen -&gt; PINEntry: </a:t>
            </a:r>
            <a:r>
              <a:rPr b="0">
                <a:solidFill>
                  <a:srgbClr val="CBD5E1"/>
                </a:solidFill>
              </a:rPr>
              <a:t>Tap 'Proceed to PIN Entry' &amp; input token PIN.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4. PIN -&gt; DocumentSelect: </a:t>
            </a:r>
            <a:r>
              <a:rPr b="0">
                <a:solidFill>
                  <a:srgbClr val="CBD5E1"/>
                </a:solidFill>
              </a:rPr>
              <a:t>PIN verified on token -&gt; Generate pre-signature SHA-256 digest.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🔒 App Sequence Steps (5 - 7)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5. User -&gt; SignConfirmation: </a:t>
            </a:r>
            <a:r>
              <a:rPr b="0">
                <a:solidFill>
                  <a:srgbClr val="CBD5E1"/>
                </a:solidFill>
              </a:rPr>
              <a:t>Tap 'Sign Document' -&gt; Generate SHA256WithRSA hardware signature hex.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6. Sign -&gt; Backend &amp; DB: </a:t>
            </a:r>
            <a:r>
              <a:rPr b="0">
                <a:solidFill>
                  <a:srgbClr val="CBD5E1"/>
                </a:solidFill>
              </a:rPr>
              <a:t>Persist signed PDF, session &amp; immutable audit log; session auto-invalidated.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7. SecureDoc -&gt; PIN Gate: </a:t>
            </a:r>
            <a:r>
              <a:rPr b="0">
                <a:solidFill>
                  <a:srgbClr val="CBD5E1"/>
                </a:solidFill>
              </a:rPr>
              <a:t>🔒 Re-prompt PIN to authenticate hardware token -&gt; 🔓 Unlock &amp; download signed PDF.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1089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FUTURE VISION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Empowering Mobile-First Digital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🌟 3-Phase Product Roadmap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Phase 1 (Completed): </a:t>
            </a:r>
            <a:r>
              <a:rPr b="0">
                <a:solidFill>
                  <a:srgbClr val="CBD5E1"/>
                </a:solidFill>
              </a:rPr>
              <a:t>USB-C CCID Native Stack + React Native App + PAdES + Audit Ledger.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Phase 2 (Q4 2026): </a:t>
            </a:r>
            <a:r>
              <a:rPr b="0">
                <a:solidFill>
                  <a:srgbClr val="CBD5E1"/>
                </a:solidFill>
              </a:rPr>
              <a:t>Contactless NFC Smart Cards &amp; Bluetooth Low Energy (BLE) Wireless Dongles.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Phase 3 (Q1 2027): </a:t>
            </a:r>
            <a:r>
              <a:rPr b="0">
                <a:solidFill>
                  <a:srgbClr val="CBD5E1"/>
                </a:solidFill>
              </a:rPr>
              <a:t>National Digital India &amp; NIC Portal Plugin SDK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4D399"/>
                </a:solidFill>
              </a:defRPr>
            </a:pPr>
            <a:r>
              <a:t>Thank You!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Type-C DSC Mobile Signing Solution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Empowering India's Mobile-First Infrastructure with Hardware-Grade Trust.</a:t>
            </a:r>
          </a:p>
          <a:p>
            <a:br/>
            <a:pPr>
              <a:defRPr sz="1100" b="1">
                <a:solidFill>
                  <a:srgbClr val="FBBF24"/>
                </a:solidFill>
              </a:defRPr>
            </a:pPr>
            <a:r>
              <a:t>🚀 Live Mobile App Expo Build:</a:t>
            </a:r>
            <a:br/>
            <a:r>
              <a:t>https://expo.dev/accounts/mahibujjipapas-team/projects/dsc-mobile-signing/builds/a8104366-38b4-4f48-a4b1-8e4a2796ae66</a:t>
            </a:r>
          </a:p>
          <a:p>
            <a:br/>
            <a:pPr>
              <a:defRPr sz="1400" b="1">
                <a:solidFill>
                  <a:srgbClr val="34D399"/>
                </a:solidFill>
              </a:defRPr>
            </a:pPr>
            <a:r>
              <a:t>✦ Ready for Judges'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